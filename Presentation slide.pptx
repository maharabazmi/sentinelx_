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Geist"/>
      <p:bold r:id="rId32"/>
      <p:boldItalic r:id="rId33"/>
    </p:embeddedFont>
    <p:embeddedFont>
      <p:font typeface="Poppins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In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Geist-boldItalic.fntdata"/><Relationship Id="rId10" Type="http://schemas.openxmlformats.org/officeDocument/2006/relationships/slide" Target="slides/slide5.xml"/><Relationship Id="rId32" Type="http://schemas.openxmlformats.org/officeDocument/2006/relationships/font" Target="fonts/Geist-bold.fntdata"/><Relationship Id="rId13" Type="http://schemas.openxmlformats.org/officeDocument/2006/relationships/slide" Target="slides/slide8.xml"/><Relationship Id="rId35" Type="http://schemas.openxmlformats.org/officeDocument/2006/relationships/font" Target="fonts/Poppins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232cc1e7_11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6232cc1e7_1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232cc1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6232cc1e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9.jp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1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3.png"/><Relationship Id="rId13" Type="http://schemas.openxmlformats.org/officeDocument/2006/relationships/image" Target="../media/image29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0.png"/><Relationship Id="rId9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0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45.png"/><Relationship Id="rId8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0415" y="1333500"/>
            <a:ext cx="4335809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173610"/>
            <a:ext cx="650364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821295"/>
            <a:ext cx="6503650" cy="22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01400" y="1821850"/>
            <a:ext cx="40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Sentinel</a:t>
            </a:r>
            <a:r>
              <a:rPr lang="en-US" sz="42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X</a:t>
            </a:r>
            <a:endParaRPr sz="500"/>
          </a:p>
        </p:txBody>
      </p:sp>
      <p:sp>
        <p:nvSpPr>
          <p:cNvPr id="88" name="Google Shape;88;p13"/>
          <p:cNvSpPr txBox="1"/>
          <p:nvPr/>
        </p:nvSpPr>
        <p:spPr>
          <a:xfrm>
            <a:off x="356788" y="2705485"/>
            <a:ext cx="6503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Crime, Digital Safety &amp; Consumer Rights Protection System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9940" y="1343025"/>
            <a:ext cx="4316759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85800" y="4021335"/>
            <a:ext cx="640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TEAM M</a:t>
            </a:r>
            <a:r>
              <a:rPr b="1" lang="en-US" sz="1200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EMBERS: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85800" y="4354710"/>
            <a:ext cx="30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Md.  Maharab Hossain Opu</a:t>
            </a:r>
            <a:endParaRPr b="1"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ID: 0112330123</a:t>
            </a:r>
            <a:endParaRPr b="1"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785145" y="4354710"/>
            <a:ext cx="30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Fahim Bin Kibria</a:t>
            </a:r>
            <a:endParaRPr b="1" sz="13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ID: 0112330649</a:t>
            </a:r>
            <a:endParaRPr b="1"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85800" y="5222085"/>
            <a:ext cx="30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Ishra Tabassum</a:t>
            </a:r>
            <a:endParaRPr b="1" sz="13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ID: 0112330124</a:t>
            </a:r>
            <a:endParaRPr b="1"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785145" y="5290985"/>
            <a:ext cx="30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Raihan Ahmed Shuvo</a:t>
            </a:r>
            <a:endParaRPr b="1" sz="13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ID: 0112330457</a:t>
            </a:r>
            <a:endParaRPr b="1" sz="13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17650" y="508475"/>
            <a:ext cx="5949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Sheep Detectives</a:t>
            </a:r>
            <a:endParaRPr sz="3200">
              <a:solidFill>
                <a:srgbClr val="F8FAF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           Presents</a:t>
            </a:r>
            <a:endParaRPr sz="3600">
              <a:solidFill>
                <a:srgbClr val="F8FAF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7650" y="1658812"/>
            <a:ext cx="729000" cy="9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975" y="538162"/>
            <a:ext cx="1952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title="Crime index.jpg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>
            <a:off x="6498950" y="2385087"/>
            <a:ext cx="5250232" cy="3765914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30000" fadeDir="5400012" kx="0" rotWithShape="0" algn="bl" stA="8000" stPos="0" sy="-100000" ky="0"/>
          </a:effectLst>
        </p:spPr>
      </p:pic>
      <p:sp>
        <p:nvSpPr>
          <p:cNvPr id="103" name="Google Shape;103;p14"/>
          <p:cNvSpPr txBox="1"/>
          <p:nvPr/>
        </p:nvSpPr>
        <p:spPr>
          <a:xfrm>
            <a:off x="736537" y="428625"/>
            <a:ext cx="1135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Idea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975" y="1016375"/>
            <a:ext cx="11241149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47625" y="1144787"/>
            <a:ext cx="10649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</a:rPr>
              <a:t>SentinelX</a:t>
            </a:r>
            <a:r>
              <a:rPr lang="en-US" sz="1500">
                <a:solidFill>
                  <a:schemeClr val="lt1"/>
                </a:solidFill>
              </a:rPr>
              <a:t> is a unified digital platform that modernizes crime reporting, consumer rights protection, and public safety services in Bangladesh. It combines AI-powered analytics, anonymous reporting, offline SMS support, and real-time case tracking to improve transparency, accessibility, and trust between citizens and authorities.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975" y="3268150"/>
            <a:ext cx="5631974" cy="265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975" y="27199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03737" y="2671900"/>
            <a:ext cx="11292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66872" y="3567292"/>
            <a:ext cx="4631100" cy="20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375" lIns="80375" spcFirstLastPara="1" rIns="80375" wrap="square" tIns="80375">
            <a:spAutoFit/>
          </a:bodyPr>
          <a:lstStyle/>
          <a:p>
            <a:pPr indent="-301471" lvl="0" marL="401961" rtl="0" algn="l">
              <a:lnSpc>
                <a:spcPct val="115000"/>
              </a:lnSpc>
              <a:spcBef>
                <a:spcPts val="1055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No unified digital crime reporting platform</a:t>
            </a:r>
            <a:endParaRPr sz="1583">
              <a:solidFill>
                <a:schemeClr val="lt1"/>
              </a:solidFill>
            </a:endParaRPr>
          </a:p>
          <a:p>
            <a:pPr indent="-301471" lvl="0" marL="4019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Manual reporting is slow and inconvenient</a:t>
            </a:r>
            <a:endParaRPr sz="1583">
              <a:solidFill>
                <a:schemeClr val="lt1"/>
              </a:solidFill>
            </a:endParaRPr>
          </a:p>
          <a:p>
            <a:pPr indent="-301471" lvl="0" marL="4019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Fear of identity exposure</a:t>
            </a:r>
            <a:endParaRPr sz="1583">
              <a:solidFill>
                <a:schemeClr val="lt1"/>
              </a:solidFill>
            </a:endParaRPr>
          </a:p>
          <a:p>
            <a:pPr indent="-301471" lvl="0" marL="4019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Limited transparency in case progress</a:t>
            </a:r>
            <a:endParaRPr sz="1583">
              <a:solidFill>
                <a:schemeClr val="lt1"/>
              </a:solidFill>
            </a:endParaRPr>
          </a:p>
          <a:p>
            <a:pPr indent="-301471" lvl="0" marL="4019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Low public trust in reporting systems</a:t>
            </a:r>
            <a:endParaRPr sz="1583">
              <a:solidFill>
                <a:schemeClr val="lt1"/>
              </a:solidFill>
            </a:endParaRPr>
          </a:p>
          <a:p>
            <a:pPr indent="-301471" lvl="0" marL="4019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Consumer complaints are mostly manual</a:t>
            </a:r>
            <a:endParaRPr sz="1583">
              <a:solidFill>
                <a:schemeClr val="lt1"/>
              </a:solidFill>
            </a:endParaRPr>
          </a:p>
          <a:p>
            <a:pPr indent="-301471" lvl="0" marL="4019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83"/>
              <a:buChar char="●"/>
            </a:pPr>
            <a:r>
              <a:rPr lang="en-US" sz="1583">
                <a:solidFill>
                  <a:schemeClr val="lt1"/>
                </a:solidFill>
              </a:rPr>
              <a:t>Authorities lack centralized real-time data</a:t>
            </a:r>
            <a:endParaRPr sz="1583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/>
          <p:cNvPicPr preferRelativeResize="0"/>
          <p:nvPr/>
        </p:nvPicPr>
        <p:blipFill>
          <a:blip r:embed="rId4">
            <a:alphaModFix amt="21000"/>
          </a:blip>
          <a:stretch>
            <a:fillRect/>
          </a:stretch>
        </p:blipFill>
        <p:spPr>
          <a:xfrm>
            <a:off x="7487291" y="0"/>
            <a:ext cx="470471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550" y="238525"/>
            <a:ext cx="3095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09412" y="215784"/>
            <a:ext cx="112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MOTIVATION 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85550" y="714775"/>
            <a:ext cx="11220600" cy="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15494" r="14143" t="0"/>
          <a:stretch/>
        </p:blipFill>
        <p:spPr>
          <a:xfrm>
            <a:off x="1107050" y="905425"/>
            <a:ext cx="5027076" cy="401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460475" y="2738325"/>
            <a:ext cx="338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To simplify public safety by bringing all essential services into one intelligent platform. 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 rot="-5648518">
            <a:off x="-3298938" y="3110508"/>
            <a:ext cx="3738164" cy="10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8FAFC"/>
                </a:solidFill>
              </a:rPr>
              <a:t>Our motivtion is to use technology and AI to make public safety services more accessible, transparent, and trustworthy for every citizen </a:t>
            </a:r>
            <a:endParaRPr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8425" y="910694"/>
            <a:ext cx="395600" cy="4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654637" y="845150"/>
            <a:ext cx="11292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 sz="2100"/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470471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243250" y="1715875"/>
            <a:ext cx="5787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AI-powered unified platform that enables citizens to report incidents, request emergency assistance, receive community alerts, protect consumer rights.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All from a single secure application.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517455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4094630" y="4168232"/>
            <a:ext cx="1163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8"/>
          </a:p>
        </p:txBody>
      </p:sp>
      <p:sp>
        <p:nvSpPr>
          <p:cNvPr id="135" name="Google Shape;135;p17"/>
          <p:cNvSpPr txBox="1"/>
          <p:nvPr/>
        </p:nvSpPr>
        <p:spPr>
          <a:xfrm>
            <a:off x="966787" y="428625"/>
            <a:ext cx="1122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 Stack</a:t>
            </a:r>
            <a:endParaRPr/>
          </a:p>
        </p:txBody>
      </p:sp>
      <p:pic>
        <p:nvPicPr>
          <p:cNvPr descr="preencoded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302" y="2150314"/>
            <a:ext cx="6905311" cy="29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2061110" y="4347121"/>
            <a:ext cx="1025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28"/>
              <a:buFont typeface="Geist"/>
              <a:buNone/>
            </a:pPr>
            <a:r>
              <a:rPr b="1" i="0" lang="en-US" sz="1128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REST API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061110" y="4594447"/>
            <a:ext cx="1025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29"/>
              <a:buFont typeface="Geist"/>
              <a:buNone/>
            </a:pPr>
            <a:r>
              <a:rPr b="0" i="0" lang="en-US" sz="929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HTTP endpoints and routing</a:t>
            </a:r>
            <a:endParaRPr b="0" i="0" sz="9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93826" y="4347121"/>
            <a:ext cx="1025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28"/>
              <a:buFont typeface="Geist"/>
              <a:buNone/>
            </a:pPr>
            <a:r>
              <a:rPr b="1" lang="en-US" sz="1128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MySQL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693826" y="4594447"/>
            <a:ext cx="1025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29"/>
              <a:buFont typeface="Geist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Structured Data Storage</a:t>
            </a:r>
            <a:endParaRPr b="0" i="0" sz="9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48019" y="2419452"/>
            <a:ext cx="1025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28"/>
              <a:buFont typeface="Geist"/>
              <a:buNone/>
            </a:pPr>
            <a:r>
              <a:rPr b="1" i="0" lang="en-US" sz="1128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Flutter App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48019" y="2666778"/>
            <a:ext cx="1025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Android &amp; iOS App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Citizen Interface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29"/>
              <a:buFont typeface="Geist"/>
              <a:buNone/>
            </a:pPr>
            <a:r>
              <a:t/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967800" y="2419449"/>
            <a:ext cx="1025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AI Engine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YOLO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Whisper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EasyOCR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Scikit-learn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and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map &amp; notification</a:t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29"/>
              <a:buFont typeface="Geist"/>
              <a:buNone/>
            </a:pPr>
            <a:r>
              <a:t/>
            </a:r>
            <a:endParaRPr sz="929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357920" y="2379927"/>
            <a:ext cx="10254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28"/>
              <a:buFont typeface="Geist"/>
              <a:buNone/>
            </a:pPr>
            <a:r>
              <a:rPr b="1" lang="en-US" sz="1128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Flask Backend 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393808" y="2860986"/>
            <a:ext cx="1025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929"/>
              <a:buFont typeface="Geist"/>
              <a:buNone/>
            </a:pPr>
            <a:r>
              <a:rPr lang="en-US" sz="929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REST API &amp; Business Logic </a:t>
            </a:r>
            <a:endParaRPr b="0" i="0" sz="9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686950" y="1021875"/>
            <a:ext cx="3945000" cy="937800"/>
          </a:xfrm>
          <a:prstGeom prst="roundRect">
            <a:avLst>
              <a:gd fmla="val 7295" name="adj"/>
            </a:avLst>
          </a:prstGeom>
          <a:solidFill>
            <a:srgbClr val="101620"/>
          </a:solidFill>
          <a:ln cap="flat" cmpd="sng" w="137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26"/>
              <a:buFont typeface="Geist"/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7863581" y="1162650"/>
            <a:ext cx="933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86"/>
              <a:buFont typeface="Geist"/>
              <a:buNone/>
            </a:pPr>
            <a:r>
              <a:rPr b="1" i="0" lang="en-US" sz="1586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Frontend</a:t>
            </a:r>
            <a:endParaRPr b="0" i="0" sz="15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843909" y="1479007"/>
            <a:ext cx="350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26"/>
              <a:buFont typeface="Geist"/>
              <a:buNone/>
            </a:pP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Single codebase for iOS &amp; Android, high native performance.</a:t>
            </a:r>
            <a:endParaRPr b="0" i="0" sz="12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686950" y="2003818"/>
            <a:ext cx="3855900" cy="937800"/>
          </a:xfrm>
          <a:prstGeom prst="roundRect">
            <a:avLst>
              <a:gd fmla="val 7295" name="adj"/>
            </a:avLst>
          </a:prstGeom>
          <a:solidFill>
            <a:srgbClr val="101620"/>
          </a:solidFill>
          <a:ln cap="flat" cmpd="sng" w="137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867006" y="2237700"/>
            <a:ext cx="933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86"/>
              <a:buFont typeface="Geist"/>
              <a:buNone/>
            </a:pPr>
            <a:r>
              <a:rPr b="1" i="0" lang="en-US" sz="1586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Backend</a:t>
            </a:r>
            <a:endParaRPr b="0" i="0" sz="15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863584" y="2572383"/>
            <a:ext cx="350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26"/>
              <a:buFont typeface="Geist"/>
              <a:buNone/>
            </a:pP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Lightweight Python microservice with seamless Al library binding. </a:t>
            </a:r>
            <a:endParaRPr b="0" i="0" sz="12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667200" y="3032731"/>
            <a:ext cx="3855900" cy="937800"/>
          </a:xfrm>
          <a:prstGeom prst="roundRect">
            <a:avLst>
              <a:gd fmla="val 7295" name="adj"/>
            </a:avLst>
          </a:prstGeom>
          <a:solidFill>
            <a:srgbClr val="101620"/>
          </a:solidFill>
          <a:ln cap="flat" cmpd="sng" w="137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839134" y="3155726"/>
            <a:ext cx="35025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86"/>
              <a:buFont typeface="Geist"/>
              <a:buNone/>
            </a:pPr>
            <a:r>
              <a:rPr b="1" i="0" lang="en-US" sz="1586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Database</a:t>
            </a:r>
            <a:endParaRPr b="0" i="0" sz="15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863584" y="3480160"/>
            <a:ext cx="350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26"/>
              <a:buFont typeface="Geist"/>
              <a:buNone/>
            </a:pP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ACID-compliant relational engine for structured safety records.</a:t>
            </a:r>
            <a:endParaRPr b="0" i="0" sz="12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662425" y="4097721"/>
            <a:ext cx="3855900" cy="937800"/>
          </a:xfrm>
          <a:prstGeom prst="roundRect">
            <a:avLst>
              <a:gd fmla="val 7295" name="adj"/>
            </a:avLst>
          </a:prstGeom>
          <a:solidFill>
            <a:srgbClr val="101620"/>
          </a:solidFill>
          <a:ln cap="flat" cmpd="sng" w="137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843909" y="4209169"/>
            <a:ext cx="35025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86"/>
              <a:buFont typeface="Geist"/>
              <a:buNone/>
            </a:pPr>
            <a:r>
              <a:rPr b="1" i="0" lang="en-US" sz="1586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AI / ML</a:t>
            </a:r>
            <a:endParaRPr b="0" i="0" sz="15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839134" y="4581177"/>
            <a:ext cx="350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Image detection, speech </a:t>
            </a: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transcription,</a:t>
            </a: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OCR</a:t>
            </a:r>
            <a:endParaRPr sz="1226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fraud detection and predictive analytics</a:t>
            </a:r>
            <a:endParaRPr sz="1226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26"/>
              <a:buFont typeface="Geist"/>
              <a:buNone/>
            </a:pP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endParaRPr b="0" i="0" sz="12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686950" y="5163484"/>
            <a:ext cx="3855900" cy="937800"/>
          </a:xfrm>
          <a:prstGeom prst="roundRect">
            <a:avLst>
              <a:gd fmla="val 7295" name="adj"/>
            </a:avLst>
          </a:prstGeom>
          <a:solidFill>
            <a:srgbClr val="101620"/>
          </a:solidFill>
          <a:ln cap="flat" cmpd="sng" w="137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863571" y="5273402"/>
            <a:ext cx="35025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86"/>
              <a:buFont typeface="Geist"/>
              <a:buNone/>
            </a:pPr>
            <a:r>
              <a:rPr b="1" i="0" lang="en-US" sz="1586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Cloud &amp; Auth</a:t>
            </a:r>
            <a:endParaRPr b="0" i="0" sz="158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867000" y="5655867"/>
            <a:ext cx="369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Instant emergency alerts and push notifications, secure user authentication and session management</a:t>
            </a:r>
            <a:endParaRPr sz="1126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26"/>
              <a:buFont typeface="Geist"/>
              <a:buNone/>
            </a:pPr>
            <a:r>
              <a:t/>
            </a:r>
            <a:endParaRPr sz="1226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797475" y="1111200"/>
            <a:ext cx="1224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( Flutter )</a:t>
            </a:r>
            <a:endParaRPr i="1"/>
          </a:p>
        </p:txBody>
      </p:sp>
      <p:sp>
        <p:nvSpPr>
          <p:cNvPr id="162" name="Google Shape;162;p17"/>
          <p:cNvSpPr txBox="1"/>
          <p:nvPr/>
        </p:nvSpPr>
        <p:spPr>
          <a:xfrm>
            <a:off x="8740300" y="2160525"/>
            <a:ext cx="2583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( </a:t>
            </a: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Flask REST API [Python] </a:t>
            </a: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i="1"/>
          </a:p>
        </p:txBody>
      </p:sp>
      <p:sp>
        <p:nvSpPr>
          <p:cNvPr id="163" name="Google Shape;163;p17"/>
          <p:cNvSpPr txBox="1"/>
          <p:nvPr/>
        </p:nvSpPr>
        <p:spPr>
          <a:xfrm>
            <a:off x="8800900" y="3104263"/>
            <a:ext cx="2583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( </a:t>
            </a: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MySQL </a:t>
            </a: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i="1"/>
          </a:p>
        </p:txBody>
      </p:sp>
      <p:sp>
        <p:nvSpPr>
          <p:cNvPr id="164" name="Google Shape;164;p17"/>
          <p:cNvSpPr txBox="1"/>
          <p:nvPr/>
        </p:nvSpPr>
        <p:spPr>
          <a:xfrm>
            <a:off x="8547087" y="4180213"/>
            <a:ext cx="35025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( </a:t>
            </a:r>
            <a:r>
              <a:rPr lang="en-US" sz="9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Python, YOLO, Whisper, EasyOCR, Scikit-learn </a:t>
            </a:r>
            <a:r>
              <a:rPr i="1" lang="en-US" sz="9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i="1" sz="1100"/>
          </a:p>
        </p:txBody>
      </p:sp>
      <p:sp>
        <p:nvSpPr>
          <p:cNvPr id="165" name="Google Shape;165;p17"/>
          <p:cNvSpPr txBox="1"/>
          <p:nvPr/>
        </p:nvSpPr>
        <p:spPr>
          <a:xfrm>
            <a:off x="9177762" y="5221950"/>
            <a:ext cx="2583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( </a:t>
            </a: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Firebase + JWT</a:t>
            </a:r>
            <a:r>
              <a:rPr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i="1" lang="en-US" sz="1226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i="1"/>
          </a:p>
        </p:txBody>
      </p:sp>
      <p:sp>
        <p:nvSpPr>
          <p:cNvPr id="166" name="Google Shape;166;p17"/>
          <p:cNvSpPr/>
          <p:nvPr/>
        </p:nvSpPr>
        <p:spPr>
          <a:xfrm>
            <a:off x="7686950" y="6229225"/>
            <a:ext cx="3699000" cy="536400"/>
          </a:xfrm>
          <a:prstGeom prst="roundRect">
            <a:avLst>
              <a:gd fmla="val 7295" name="adj"/>
            </a:avLst>
          </a:prstGeom>
          <a:solidFill>
            <a:srgbClr val="101620"/>
          </a:solidFill>
          <a:ln cap="flat" cmpd="sng" w="1372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QA Testing: (</a:t>
            </a:r>
            <a:r>
              <a:rPr lang="en-US" sz="1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Selenium)</a:t>
            </a:r>
            <a:endParaRPr sz="16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Automated Testing </a:t>
            </a:r>
            <a:endParaRPr b="1" sz="16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title="Datagram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0925" y="832625"/>
            <a:ext cx="6238725" cy="590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966787" y="428625"/>
            <a:ext cx="1122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26950"/>
            <a:ext cx="4050925" cy="540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title="architecture-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018" y="464377"/>
            <a:ext cx="368251" cy="36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73825" y="-442675"/>
            <a:ext cx="12965824" cy="741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 rot="-655646">
            <a:off x="6477257" y="3829271"/>
            <a:ext cx="5636384" cy="5596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750" y="1221019"/>
            <a:ext cx="3600450" cy="114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33650" y="1221019"/>
            <a:ext cx="3600450" cy="114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5550" y="1221019"/>
            <a:ext cx="3600450" cy="114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750" y="2541125"/>
            <a:ext cx="3600450" cy="114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3650" y="2541125"/>
            <a:ext cx="3600450" cy="114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5550" y="2541125"/>
            <a:ext cx="3600450" cy="114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5" y="538162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947525" y="1440094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Smart Crime</a:t>
            </a:r>
            <a:r>
              <a:rPr b="1" i="0" lang="en-US" sz="1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Report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738475" y="1440094"/>
            <a:ext cx="30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2. Crime Heatmap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538950" y="1440094"/>
            <a:ext cx="299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Community Alert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66575" y="2760200"/>
            <a:ext cx="30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Shop Trust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767050" y="2760200"/>
            <a:ext cx="299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5. Offline Report  SMS Mode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491325" y="2760200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6. AI Intelligence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0825" y="147343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95125" y="1754419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Anonymous or named submission options</a:t>
            </a:r>
            <a:endParaRPr sz="1500"/>
          </a:p>
        </p:txBody>
      </p:sp>
      <p:sp>
        <p:nvSpPr>
          <p:cNvPr id="196" name="Google Shape;196;p19"/>
          <p:cNvSpPr txBox="1"/>
          <p:nvPr/>
        </p:nvSpPr>
        <p:spPr>
          <a:xfrm>
            <a:off x="795125" y="1952509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Supports photo, video, voice &amp; GPS tags</a:t>
            </a:r>
            <a:endParaRPr sz="1500"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52725" y="147343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4567025" y="1754419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Color-coded risk zones (Green to Red)</a:t>
            </a:r>
            <a:endParaRPr sz="1500"/>
          </a:p>
        </p:txBody>
      </p:sp>
      <p:sp>
        <p:nvSpPr>
          <p:cNvPr id="199" name="Google Shape;199;p19"/>
          <p:cNvSpPr txBox="1"/>
          <p:nvPr/>
        </p:nvSpPr>
        <p:spPr>
          <a:xfrm>
            <a:off x="4567025" y="1952509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Filter by district, time &amp; crime type</a:t>
            </a:r>
            <a:endParaRPr sz="1500"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24625" y="147343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8338925" y="1754419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Crowdsourced public safety updates</a:t>
            </a:r>
            <a:endParaRPr sz="1500"/>
          </a:p>
        </p:txBody>
      </p:sp>
      <p:sp>
        <p:nvSpPr>
          <p:cNvPr id="202" name="Google Shape;202;p19"/>
          <p:cNvSpPr txBox="1"/>
          <p:nvPr/>
        </p:nvSpPr>
        <p:spPr>
          <a:xfrm>
            <a:off x="8338925" y="1952509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fake-alert detection mechanism</a:t>
            </a:r>
            <a:endParaRPr sz="1500"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0825" y="279353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95125" y="3074525"/>
            <a:ext cx="304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Barcode scan &amp; price verification</a:t>
            </a:r>
            <a:endParaRPr sz="1600"/>
          </a:p>
        </p:txBody>
      </p:sp>
      <p:sp>
        <p:nvSpPr>
          <p:cNvPr id="205" name="Google Shape;205;p19"/>
          <p:cNvSpPr txBox="1"/>
          <p:nvPr/>
        </p:nvSpPr>
        <p:spPr>
          <a:xfrm>
            <a:off x="795125" y="3272615"/>
            <a:ext cx="304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25% legal reward on verified complaints</a:t>
            </a:r>
            <a:endParaRPr sz="1600"/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52725" y="279353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4567025" y="3074525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Emergency reporting without internet</a:t>
            </a:r>
            <a:endParaRPr sz="1500"/>
          </a:p>
        </p:txBody>
      </p:sp>
      <p:sp>
        <p:nvSpPr>
          <p:cNvPr id="208" name="Google Shape;208;p19"/>
          <p:cNvSpPr txBox="1"/>
          <p:nvPr/>
        </p:nvSpPr>
        <p:spPr>
          <a:xfrm>
            <a:off x="4567025" y="3272615"/>
            <a:ext cx="304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Sends GPS &amp; auto-syncs when online</a:t>
            </a:r>
            <a:endParaRPr sz="1500"/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24625" y="27935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8338925" y="3074525"/>
            <a:ext cx="304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Crime hotspot prediction algorithms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338925" y="3272615"/>
            <a:ext cx="304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priority assignment &amp; OCR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80825" y="175441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80825" y="195250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4452725" y="175441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4452725" y="195250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224625" y="175441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224625" y="1952509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80825" y="30745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80825" y="327261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452725" y="30745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4452725" y="327261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224625" y="30745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224625" y="327261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38212" y="428625"/>
            <a:ext cx="112537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Features</a:t>
            </a:r>
            <a:endParaRPr/>
          </a:p>
        </p:txBody>
      </p:sp>
      <p:pic>
        <p:nvPicPr>
          <p:cNvPr descr="image.png" id="225" name="Google Shape;22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750" y="3969875"/>
            <a:ext cx="3600450" cy="14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1220200" y="4228750"/>
            <a:ext cx="817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9" title="sos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25" y="41965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951800" y="4196550"/>
            <a:ext cx="30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US" sz="1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Emergency SOS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780350" y="4510875"/>
            <a:ext cx="3048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Immediately sends live location , Emergency contacts</a:t>
            </a:r>
            <a:endParaRPr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737975" y="4907065"/>
            <a:ext cx="30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Automatically records microphone audio after SOS.</a:t>
            </a:r>
            <a:endParaRPr sz="1500"/>
          </a:p>
        </p:txBody>
      </p:sp>
      <p:sp>
        <p:nvSpPr>
          <p:cNvPr id="231" name="Google Shape;231;p19"/>
          <p:cNvSpPr txBox="1"/>
          <p:nvPr/>
        </p:nvSpPr>
        <p:spPr>
          <a:xfrm>
            <a:off x="666050" y="451087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35805" y="4905881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33" name="Google Shape;2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3650" y="3941075"/>
            <a:ext cx="4257675" cy="156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7025" y="412450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4793600" y="4124494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8. Consumer Rights </a:t>
            </a:r>
            <a:r>
              <a:rPr b="1" i="0" lang="en-US" sz="1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Report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4274150" y="4394625"/>
            <a:ext cx="39762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Submit complaints against fake products, overpricing, and expired  goods.</a:t>
            </a:r>
            <a:endParaRPr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>
                <a:solidFill>
                  <a:srgbClr val="94A3B8"/>
                </a:solidFill>
              </a:rPr>
              <a:t> </a:t>
            </a:r>
            <a:r>
              <a:rPr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Verified complaints support legal action and eligible citizen rewards.</a:t>
            </a:r>
            <a:endParaRPr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50" y="1460300"/>
            <a:ext cx="3144575" cy="10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483462" y="351825"/>
            <a:ext cx="1122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Collaboration &amp; Challenges</a:t>
            </a:r>
            <a:endParaRPr/>
          </a:p>
        </p:txBody>
      </p:sp>
      <p:cxnSp>
        <p:nvCxnSpPr>
          <p:cNvPr id="243" name="Google Shape;243;p20"/>
          <p:cNvCxnSpPr/>
          <p:nvPr/>
        </p:nvCxnSpPr>
        <p:spPr>
          <a:xfrm flipH="1" rot="10800000">
            <a:off x="344075" y="817925"/>
            <a:ext cx="9501000" cy="54300"/>
          </a:xfrm>
          <a:prstGeom prst="straightConnector1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0"/>
          <p:cNvSpPr txBox="1"/>
          <p:nvPr/>
        </p:nvSpPr>
        <p:spPr>
          <a:xfrm>
            <a:off x="483450" y="958513"/>
            <a:ext cx="271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Collaboration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50" y="4193700"/>
            <a:ext cx="3144575" cy="10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50" y="5483675"/>
            <a:ext cx="3144575" cy="10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50" y="2777825"/>
            <a:ext cx="3144575" cy="10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959650" y="1460325"/>
            <a:ext cx="20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Ishra Tabassum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836850" y="2827013"/>
            <a:ext cx="20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Md. Maharab Hossain Opu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959650" y="4155350"/>
            <a:ext cx="20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Fahim Bin Kibria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959650" y="5483675"/>
            <a:ext cx="20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Raihan Ahmed Shuvo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450" y="4759725"/>
            <a:ext cx="4180425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38" y="1999075"/>
            <a:ext cx="37242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450" y="3379400"/>
            <a:ext cx="373383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3463" y="5968200"/>
            <a:ext cx="3733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/>
          <p:cNvPicPr preferRelativeResize="0"/>
          <p:nvPr/>
        </p:nvPicPr>
        <p:blipFill rotWithShape="1">
          <a:blip r:embed="rId4">
            <a:alphaModFix/>
          </a:blip>
          <a:srcRect b="-1885" l="0" r="0" t="0"/>
          <a:stretch/>
        </p:blipFill>
        <p:spPr>
          <a:xfrm>
            <a:off x="4354925" y="1240038"/>
            <a:ext cx="6328825" cy="24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4479125" y="1567975"/>
            <a:ext cx="373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rgbClr val="38BDF8"/>
                </a:solidFill>
              </a:rPr>
              <a:t>Key Challenges &amp; Solutions</a:t>
            </a:r>
            <a:endParaRPr sz="1800">
              <a:solidFill>
                <a:srgbClr val="38BDF8"/>
              </a:solidFill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725738" y="2210325"/>
            <a:ext cx="5587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Our main challenge was building a secure, transparent, and accessible reporting platform. To overcome this, we introduced anonymous crime reporting, offline SMS support, AI-assisted report verification, real-time progress tracking, and encrypted digital evidence storage, creating a more reliable and citizen-friendly system.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9" name="Google Shape;25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12925" y="2777825"/>
            <a:ext cx="4191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/>
          <p:cNvPicPr preferRelativeResize="0"/>
          <p:nvPr/>
        </p:nvPicPr>
        <p:blipFill rotWithShape="1">
          <a:blip r:embed="rId4">
            <a:alphaModFix/>
          </a:blip>
          <a:srcRect b="-1885" l="0" r="0" t="0"/>
          <a:stretch/>
        </p:blipFill>
        <p:spPr>
          <a:xfrm>
            <a:off x="4423350" y="4193700"/>
            <a:ext cx="3724275" cy="18978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4445588" y="4328625"/>
            <a:ext cx="1902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Tools used</a:t>
            </a:r>
            <a:endParaRPr sz="190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0" title="github-01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7550" y="4895325"/>
            <a:ext cx="1001851" cy="100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title="jira-seeklogo-0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15446" y="5025100"/>
            <a:ext cx="19378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1"/>
          <p:cNvPicPr preferRelativeResize="0"/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4765" y="0"/>
            <a:ext cx="1218723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1840100"/>
            <a:ext cx="5627424" cy="345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53816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6827969" y="2179050"/>
            <a:ext cx="4814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1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Impact</a:t>
            </a:r>
            <a:endParaRPr sz="2812"/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7966" y="2237997"/>
            <a:ext cx="301350" cy="3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292435" y="3208334"/>
            <a:ext cx="3808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Faster Emergency Response</a:t>
            </a:r>
            <a:endParaRPr sz="2461"/>
          </a:p>
        </p:txBody>
      </p:sp>
      <p:sp>
        <p:nvSpPr>
          <p:cNvPr id="274" name="Google Shape;274;p21"/>
          <p:cNvSpPr txBox="1"/>
          <p:nvPr/>
        </p:nvSpPr>
        <p:spPr>
          <a:xfrm>
            <a:off x="7179536" y="4225335"/>
            <a:ext cx="39216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4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</a:t>
            </a:r>
            <a:r>
              <a:rPr b="0" i="0" lang="en-US" sz="1714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Public Trust</a:t>
            </a:r>
            <a:endParaRPr sz="2461"/>
          </a:p>
        </p:txBody>
      </p:sp>
      <p:sp>
        <p:nvSpPr>
          <p:cNvPr id="275" name="Google Shape;275;p21"/>
          <p:cNvSpPr txBox="1"/>
          <p:nvPr/>
        </p:nvSpPr>
        <p:spPr>
          <a:xfrm>
            <a:off x="7292655" y="3677100"/>
            <a:ext cx="3808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Enhanced Transparency</a:t>
            </a:r>
            <a:endParaRPr sz="2461"/>
          </a:p>
        </p:txBody>
      </p:sp>
      <p:sp>
        <p:nvSpPr>
          <p:cNvPr id="276" name="Google Shape;276;p21"/>
          <p:cNvSpPr txBox="1"/>
          <p:nvPr/>
        </p:nvSpPr>
        <p:spPr>
          <a:xfrm>
            <a:off x="7179536" y="4694102"/>
            <a:ext cx="39216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4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</a:t>
            </a:r>
            <a:r>
              <a:rPr b="0" i="0" lang="en-US" sz="1714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Consumer Rights Action</a:t>
            </a:r>
            <a:endParaRPr sz="2461"/>
          </a:p>
        </p:txBody>
      </p:sp>
      <p:pic>
        <p:nvPicPr>
          <p:cNvPr descr="image.png" id="277" name="Google Shape;27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27990" y="3233468"/>
            <a:ext cx="217644" cy="217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27957" y="4250448"/>
            <a:ext cx="217644" cy="217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27990" y="3702235"/>
            <a:ext cx="217644" cy="217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27957" y="4719215"/>
            <a:ext cx="217644" cy="21764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900112" y="428625"/>
            <a:ext cx="112918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Scope &amp; Impact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27338" y="2239200"/>
            <a:ext cx="50205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Government &amp; Industry Integration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Bangladesh Police Digital System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National Emergency Service (999)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DNCRP</a:t>
            </a:r>
            <a:r>
              <a:rPr lang="en-US">
                <a:solidFill>
                  <a:schemeClr val="lt1"/>
                </a:solidFill>
              </a:rPr>
              <a:t> (Consumer Rights Authority)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BTRC</a:t>
            </a:r>
            <a:r>
              <a:rPr lang="en-US">
                <a:solidFill>
                  <a:schemeClr val="lt1"/>
                </a:solidFill>
              </a:rPr>
              <a:t> (Bangladesh Telecommunication Regulatory Commission)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Telecom Operators</a:t>
            </a:r>
            <a:r>
              <a:rPr lang="en-US">
                <a:solidFill>
                  <a:schemeClr val="lt1"/>
                </a:solidFill>
              </a:rPr>
              <a:t> (Grameenphone, Robi, Banglalink, Teletalk)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NID Verification System </a:t>
            </a:r>
            <a:r>
              <a:rPr i="1" lang="en-US">
                <a:solidFill>
                  <a:schemeClr val="lt1"/>
                </a:solidFill>
              </a:rPr>
              <a:t>(Authorized Access)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0725"/>
            <a:ext cx="12192000" cy="6888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4">
            <a:alphaModFix/>
          </a:blip>
          <a:srcRect b="-9410" l="114810" r="-114810" t="9410"/>
          <a:stretch/>
        </p:blipFill>
        <p:spPr>
          <a:xfrm>
            <a:off x="6748675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8675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3309075" y="2562150"/>
            <a:ext cx="508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THANK YOU</a:t>
            </a:r>
            <a:endParaRPr b="1" sz="5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1" name="Google Shape;29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0387" y="1213675"/>
            <a:ext cx="4181475" cy="55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9225" y="3429000"/>
            <a:ext cx="39814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